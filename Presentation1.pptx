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737"/>
  </p:normalViewPr>
  <p:slideViewPr>
    <p:cSldViewPr snapToGrid="0">
      <p:cViewPr varScale="1">
        <p:scale>
          <a:sx n="102" d="100"/>
          <a:sy n="102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A616-3819-C83C-8BFF-133823633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CFD79-3837-0E41-BCB9-65B3AE7BF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83A35-9653-07C3-BAD4-5A8D4BFF2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4F68-2D7A-BD42-8190-D6AEE4D43329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E0E72-A1B6-0CBE-078E-34108C3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52379-B9E0-250D-6463-67402BDC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CC5F-F3B2-CA43-B364-9F913B80C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35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F924D-CCED-1CE4-CEB5-745F239D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A697-7832-07F1-9D0C-2FAEEFCD1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0068D-1784-D9B0-0D03-73BE816C5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4F68-2D7A-BD42-8190-D6AEE4D43329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73259-3296-3228-C724-217F72F0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2D2D0-6D6A-9325-59DB-412D0786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CC5F-F3B2-CA43-B364-9F913B80C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CCB4-976E-4650-2A5A-AF07525E2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3854E-C102-1DEF-B78C-7557C315B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1F78D-E012-982C-76A0-B55921B55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4F68-2D7A-BD42-8190-D6AEE4D43329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BC976-1F64-8B83-01CF-5A22EE356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5C0A3-90C4-3D03-E215-4E688BC4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CC5F-F3B2-CA43-B364-9F913B80C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0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2787-212C-B1EA-040D-2E441EB27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71884-63E6-C4F5-F867-0C14115E1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03DDD-B83F-208C-7522-29E890CE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5B384-589E-6A09-E717-C6C3A5929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4F68-2D7A-BD42-8190-D6AEE4D43329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829D2-7BA5-D9D1-CAD6-997A02BA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C65EE-8329-0CCF-7621-CC71E0C6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CC5F-F3B2-CA43-B364-9F913B80C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93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2C4F2-FE8C-41A7-B387-42ACDFB3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A6CA2-5DF8-3094-8046-A5B011F78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834D2-0420-81B6-BA8A-A04C819DC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B95828-12D3-2370-B5E1-0A8EE7871B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9AED21-6F70-0840-49B7-5D693D524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C37CF4-F06D-C6F7-E4C2-456D9734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4F68-2D7A-BD42-8190-D6AEE4D43329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88CE6-A8DF-4F29-AF67-45FB7F79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0C1A48-4E2F-470F-5663-5AC4434B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CC5F-F3B2-CA43-B364-9F913B80C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7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7E836-E514-490B-D058-461A552C9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AAD2E0-4866-6D97-AE9C-DBA938FAD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4F68-2D7A-BD42-8190-D6AEE4D43329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E232B-A8C0-BE06-37C9-1F776D9F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A3386-A271-14D2-08CA-36362834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CC5F-F3B2-CA43-B364-9F913B80C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5F92F-1A26-9588-EDEE-934649D8C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4F68-2D7A-BD42-8190-D6AEE4D43329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74762E-908F-8D4F-541F-F69788BA3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2D8FC-1C98-54BC-3EB4-EDBD8D8D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CC5F-F3B2-CA43-B364-9F913B80C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3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257F-9A55-799E-866E-28C49C540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FFFD7-B713-4605-8E10-5EB1C7085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93ED1-E7DE-9421-E6BD-8C2B8B6E2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F9384-F3D3-21E0-F43C-B4EA064D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4F68-2D7A-BD42-8190-D6AEE4D43329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56C16-7EA0-F644-3D2A-01B3E6DDC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96684-F970-16E5-1286-BAEC167B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CC5F-F3B2-CA43-B364-9F913B80C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42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85AC4-DE9E-553B-0D33-81BC8A3C5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F56312-5BE8-6F32-9815-25607B116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88881-A20B-62C0-484A-976C097B0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1ADD3-3A3E-4909-1FB5-5B8900A2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4F68-2D7A-BD42-8190-D6AEE4D43329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44F7B-4065-0986-60D5-6DF0C0B7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3C58A-6964-4C68-7E38-098F865F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CC5F-F3B2-CA43-B364-9F913B80C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31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13D2-B16E-3161-ADDC-F305EA16B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65700-B728-4E1C-C0D6-A99B112D6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54D19-B13E-E304-D1F8-0ABD9961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4F68-2D7A-BD42-8190-D6AEE4D43329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766D0-CCA7-A41E-9348-0774E9F6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E0E49-C0B9-D001-A0A2-737D6649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CC5F-F3B2-CA43-B364-9F913B80C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9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283E33-C0CD-920F-96EA-C65379655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CE8A06-84F4-EA1C-AE3C-5A633DF20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26328-A624-F5F5-6FDF-C330BB9D9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4F68-2D7A-BD42-8190-D6AEE4D43329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32C25-45B7-F593-623C-16F3469FE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8E9ED-9ECB-29B5-4534-15E89D02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CC5F-F3B2-CA43-B364-9F913B80C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6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A49174-127E-169E-8D06-62D6768B5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84A1B-7261-11A4-C051-1B81EC9B2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0753B-B51A-8F53-D547-42D2BBBA3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24F68-2D7A-BD42-8190-D6AEE4D43329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F32E5-05AE-F490-9989-558F935E4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1FC74-79B4-8242-B27E-4571D3FCC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1CC5F-F3B2-CA43-B364-9F913B80C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74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644C57-F89C-A087-5E19-F1A166A502B7}"/>
              </a:ext>
            </a:extLst>
          </p:cNvPr>
          <p:cNvSpPr/>
          <p:nvPr/>
        </p:nvSpPr>
        <p:spPr>
          <a:xfrm>
            <a:off x="2534194" y="731520"/>
            <a:ext cx="7419702" cy="539496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BB85E7-5A4F-1D70-871E-A5CF562252D3}"/>
              </a:ext>
            </a:extLst>
          </p:cNvPr>
          <p:cNvSpPr/>
          <p:nvPr/>
        </p:nvSpPr>
        <p:spPr>
          <a:xfrm>
            <a:off x="3276600" y="1190898"/>
            <a:ext cx="757646" cy="744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6EC1C3-95F3-64CD-EC99-BF0D822A0042}"/>
              </a:ext>
            </a:extLst>
          </p:cNvPr>
          <p:cNvSpPr/>
          <p:nvPr/>
        </p:nvSpPr>
        <p:spPr>
          <a:xfrm>
            <a:off x="4972594" y="1190898"/>
            <a:ext cx="757646" cy="744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FF9B31-5953-65B7-A8FF-52576B372FE4}"/>
              </a:ext>
            </a:extLst>
          </p:cNvPr>
          <p:cNvSpPr/>
          <p:nvPr/>
        </p:nvSpPr>
        <p:spPr>
          <a:xfrm>
            <a:off x="6849291" y="1190898"/>
            <a:ext cx="757646" cy="744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FD24B1-9FDF-44DA-438C-5EEB2772B71F}"/>
              </a:ext>
            </a:extLst>
          </p:cNvPr>
          <p:cNvSpPr/>
          <p:nvPr/>
        </p:nvSpPr>
        <p:spPr>
          <a:xfrm>
            <a:off x="8569234" y="1190898"/>
            <a:ext cx="757646" cy="7445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8DD4B0F-4732-A783-AD2D-80091C3D576E}"/>
              </a:ext>
            </a:extLst>
          </p:cNvPr>
          <p:cNvSpPr/>
          <p:nvPr/>
        </p:nvSpPr>
        <p:spPr>
          <a:xfrm>
            <a:off x="3276600" y="2342957"/>
            <a:ext cx="757646" cy="74458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1863B6F-A202-C314-91D0-B32DFE21FF60}"/>
              </a:ext>
            </a:extLst>
          </p:cNvPr>
          <p:cNvSpPr/>
          <p:nvPr/>
        </p:nvSpPr>
        <p:spPr>
          <a:xfrm>
            <a:off x="4972594" y="2342957"/>
            <a:ext cx="757646" cy="74458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04134A8-AB61-C6A8-F27B-15B36CF7640B}"/>
              </a:ext>
            </a:extLst>
          </p:cNvPr>
          <p:cNvSpPr/>
          <p:nvPr/>
        </p:nvSpPr>
        <p:spPr>
          <a:xfrm>
            <a:off x="6849291" y="2342957"/>
            <a:ext cx="757646" cy="74458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1B29485-9010-AEBC-C5A4-04CA640FFF66}"/>
              </a:ext>
            </a:extLst>
          </p:cNvPr>
          <p:cNvSpPr/>
          <p:nvPr/>
        </p:nvSpPr>
        <p:spPr>
          <a:xfrm>
            <a:off x="8569234" y="2342957"/>
            <a:ext cx="757646" cy="74458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FDEB71-CA81-A898-343A-AEF841682668}"/>
              </a:ext>
            </a:extLst>
          </p:cNvPr>
          <p:cNvSpPr/>
          <p:nvPr/>
        </p:nvSpPr>
        <p:spPr>
          <a:xfrm>
            <a:off x="3276600" y="3396343"/>
            <a:ext cx="757646" cy="74458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D79C7BD-D9EE-ABBB-4D06-A58350F05D47}"/>
              </a:ext>
            </a:extLst>
          </p:cNvPr>
          <p:cNvSpPr/>
          <p:nvPr/>
        </p:nvSpPr>
        <p:spPr>
          <a:xfrm>
            <a:off x="4972594" y="3396343"/>
            <a:ext cx="757646" cy="74458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6B45E8-8624-90C1-7BF3-76D5D1151624}"/>
              </a:ext>
            </a:extLst>
          </p:cNvPr>
          <p:cNvSpPr/>
          <p:nvPr/>
        </p:nvSpPr>
        <p:spPr>
          <a:xfrm>
            <a:off x="6849291" y="3396343"/>
            <a:ext cx="757646" cy="74458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2C755B5-0245-84FE-85EA-791B75ACD5ED}"/>
              </a:ext>
            </a:extLst>
          </p:cNvPr>
          <p:cNvSpPr/>
          <p:nvPr/>
        </p:nvSpPr>
        <p:spPr>
          <a:xfrm>
            <a:off x="8569234" y="3396343"/>
            <a:ext cx="757646" cy="74458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6E76285-EDEF-E104-3A82-DC9D83A00346}"/>
              </a:ext>
            </a:extLst>
          </p:cNvPr>
          <p:cNvSpPr/>
          <p:nvPr/>
        </p:nvSpPr>
        <p:spPr>
          <a:xfrm>
            <a:off x="3313612" y="4601393"/>
            <a:ext cx="757646" cy="74458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CC6DDCD-4EFD-4EBC-1B9D-389A854B1911}"/>
              </a:ext>
            </a:extLst>
          </p:cNvPr>
          <p:cNvSpPr/>
          <p:nvPr/>
        </p:nvSpPr>
        <p:spPr>
          <a:xfrm>
            <a:off x="5009606" y="4601393"/>
            <a:ext cx="757646" cy="74458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4D04806-A255-9787-DD69-D76AAD5FC42B}"/>
              </a:ext>
            </a:extLst>
          </p:cNvPr>
          <p:cNvSpPr/>
          <p:nvPr/>
        </p:nvSpPr>
        <p:spPr>
          <a:xfrm>
            <a:off x="6886303" y="4601393"/>
            <a:ext cx="757646" cy="74458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619C3B1-3394-FF39-403B-8BD9A092A360}"/>
              </a:ext>
            </a:extLst>
          </p:cNvPr>
          <p:cNvSpPr/>
          <p:nvPr/>
        </p:nvSpPr>
        <p:spPr>
          <a:xfrm>
            <a:off x="8606246" y="4601393"/>
            <a:ext cx="757646" cy="74458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757589-F1A3-825F-3F8C-CA9A3924A4AB}"/>
              </a:ext>
            </a:extLst>
          </p:cNvPr>
          <p:cNvSpPr txBox="1"/>
          <p:nvPr/>
        </p:nvSpPr>
        <p:spPr>
          <a:xfrm>
            <a:off x="4071258" y="225171"/>
            <a:ext cx="5207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ORGANISATION DATABASE SERVER</a:t>
            </a:r>
          </a:p>
        </p:txBody>
      </p:sp>
      <p:sp>
        <p:nvSpPr>
          <p:cNvPr id="26" name="Oval 2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89AC7F4-D3C3-ECE8-880C-4CEACC334EE9}"/>
              </a:ext>
            </a:extLst>
          </p:cNvPr>
          <p:cNvSpPr/>
          <p:nvPr/>
        </p:nvSpPr>
        <p:spPr>
          <a:xfrm>
            <a:off x="378824" y="3566161"/>
            <a:ext cx="1859280" cy="177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DB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81A573C-F58D-DB42-7D94-DACC6217D1D9}"/>
              </a:ext>
            </a:extLst>
          </p:cNvPr>
          <p:cNvCxnSpPr>
            <a:stCxn id="9" idx="5"/>
            <a:endCxn id="26" idx="6"/>
          </p:cNvCxnSpPr>
          <p:nvPr/>
        </p:nvCxnSpPr>
        <p:spPr>
          <a:xfrm flipH="1">
            <a:off x="2238104" y="1826438"/>
            <a:ext cx="1685187" cy="2629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B9FB5E7-01F6-7F6F-6727-9CFE3038FE42}"/>
              </a:ext>
            </a:extLst>
          </p:cNvPr>
          <p:cNvCxnSpPr>
            <a:stCxn id="9" idx="1"/>
            <a:endCxn id="26" idx="1"/>
          </p:cNvCxnSpPr>
          <p:nvPr/>
        </p:nvCxnSpPr>
        <p:spPr>
          <a:xfrm flipH="1">
            <a:off x="651109" y="1299940"/>
            <a:ext cx="2736446" cy="2526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583BD54-2B35-B1F2-23C7-ED93B06EDC9D}"/>
              </a:ext>
            </a:extLst>
          </p:cNvPr>
          <p:cNvSpPr txBox="1"/>
          <p:nvPr/>
        </p:nvSpPr>
        <p:spPr>
          <a:xfrm>
            <a:off x="3218091" y="857946"/>
            <a:ext cx="110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Factory_1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C2E562-39CF-B504-A003-38B0289D9973}"/>
              </a:ext>
            </a:extLst>
          </p:cNvPr>
          <p:cNvSpPr txBox="1"/>
          <p:nvPr/>
        </p:nvSpPr>
        <p:spPr>
          <a:xfrm>
            <a:off x="4776652" y="885408"/>
            <a:ext cx="110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Factory_2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059D05-FCC3-EE0D-7C86-265B9DEB8B37}"/>
              </a:ext>
            </a:extLst>
          </p:cNvPr>
          <p:cNvSpPr txBox="1"/>
          <p:nvPr/>
        </p:nvSpPr>
        <p:spPr>
          <a:xfrm>
            <a:off x="6742221" y="821566"/>
            <a:ext cx="110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Factory_3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2F7581-B3AC-E278-515B-6CE5424CE9B1}"/>
              </a:ext>
            </a:extLst>
          </p:cNvPr>
          <p:cNvSpPr txBox="1"/>
          <p:nvPr/>
        </p:nvSpPr>
        <p:spPr>
          <a:xfrm>
            <a:off x="8249044" y="821566"/>
            <a:ext cx="110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Factory_4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A278CA-ADAC-62FB-CC7C-A69F9E24FC2C}"/>
              </a:ext>
            </a:extLst>
          </p:cNvPr>
          <p:cNvSpPr txBox="1"/>
          <p:nvPr/>
        </p:nvSpPr>
        <p:spPr>
          <a:xfrm>
            <a:off x="3311435" y="2043794"/>
            <a:ext cx="110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Factory_5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C8D147-F896-093C-2140-94DE92CA9729}"/>
              </a:ext>
            </a:extLst>
          </p:cNvPr>
          <p:cNvSpPr txBox="1"/>
          <p:nvPr/>
        </p:nvSpPr>
        <p:spPr>
          <a:xfrm>
            <a:off x="4810674" y="2034153"/>
            <a:ext cx="1318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Head_office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A5EB32-6FE6-1AB5-5C77-7BAF16073A64}"/>
              </a:ext>
            </a:extLst>
          </p:cNvPr>
          <p:cNvSpPr txBox="1"/>
          <p:nvPr/>
        </p:nvSpPr>
        <p:spPr>
          <a:xfrm>
            <a:off x="6742221" y="2007659"/>
            <a:ext cx="110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Factory_6</a:t>
            </a:r>
          </a:p>
        </p:txBody>
      </p:sp>
    </p:spTree>
    <p:extLst>
      <p:ext uri="{BB962C8B-B14F-4D97-AF65-F5344CB8AC3E}">
        <p14:creationId xmlns:p14="http://schemas.microsoft.com/office/powerpoint/2010/main" val="2622295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0DEC2-4DF4-0D7F-DB00-C914745C6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08B4008-B021-3B01-C685-0A6383C73832}"/>
              </a:ext>
            </a:extLst>
          </p:cNvPr>
          <p:cNvSpPr txBox="1"/>
          <p:nvPr/>
        </p:nvSpPr>
        <p:spPr>
          <a:xfrm>
            <a:off x="4071256" y="162710"/>
            <a:ext cx="3275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Factory_1 DATABASE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55F12B1-E9AD-7E3E-B14C-A4B916D0C3EE}"/>
              </a:ext>
            </a:extLst>
          </p:cNvPr>
          <p:cNvSpPr/>
          <p:nvPr/>
        </p:nvSpPr>
        <p:spPr>
          <a:xfrm>
            <a:off x="2710512" y="748391"/>
            <a:ext cx="5997323" cy="56524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>
                <a:solidFill>
                  <a:schemeClr val="bg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C091D7-E745-AE20-0878-02916042A47E}"/>
              </a:ext>
            </a:extLst>
          </p:cNvPr>
          <p:cNvSpPr/>
          <p:nvPr/>
        </p:nvSpPr>
        <p:spPr>
          <a:xfrm>
            <a:off x="3983277" y="1540701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TB1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EEEFF5-4331-14F6-03F8-5E898213467E}"/>
              </a:ext>
            </a:extLst>
          </p:cNvPr>
          <p:cNvSpPr/>
          <p:nvPr/>
        </p:nvSpPr>
        <p:spPr>
          <a:xfrm>
            <a:off x="5162811" y="1540701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TB2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A6A1FC-0069-F39E-3C99-0EC4EC09F746}"/>
              </a:ext>
            </a:extLst>
          </p:cNvPr>
          <p:cNvSpPr/>
          <p:nvPr/>
        </p:nvSpPr>
        <p:spPr>
          <a:xfrm>
            <a:off x="6342345" y="1540701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TB3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5E34F4-9488-EE85-471A-8E869E8B95B2}"/>
              </a:ext>
            </a:extLst>
          </p:cNvPr>
          <p:cNvSpPr/>
          <p:nvPr/>
        </p:nvSpPr>
        <p:spPr>
          <a:xfrm>
            <a:off x="3281820" y="2658688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TB4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3FC3FA-390C-645D-C980-C9491F17F5B3}"/>
              </a:ext>
            </a:extLst>
          </p:cNvPr>
          <p:cNvSpPr/>
          <p:nvPr/>
        </p:nvSpPr>
        <p:spPr>
          <a:xfrm>
            <a:off x="4461354" y="2658688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TB5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1E2B97-EFAE-9155-944A-E052820F87F4}"/>
              </a:ext>
            </a:extLst>
          </p:cNvPr>
          <p:cNvSpPr/>
          <p:nvPr/>
        </p:nvSpPr>
        <p:spPr>
          <a:xfrm>
            <a:off x="5709173" y="2658688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3FCE1C-7441-ADB2-2C32-801C02B96AFB}"/>
              </a:ext>
            </a:extLst>
          </p:cNvPr>
          <p:cNvSpPr/>
          <p:nvPr/>
        </p:nvSpPr>
        <p:spPr>
          <a:xfrm>
            <a:off x="7010399" y="2680609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7D4C97-6189-11A0-B048-04A95BF0A9B9}"/>
              </a:ext>
            </a:extLst>
          </p:cNvPr>
          <p:cNvSpPr/>
          <p:nvPr/>
        </p:nvSpPr>
        <p:spPr>
          <a:xfrm>
            <a:off x="3281820" y="3634113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ADD145-40D9-E21C-C8C3-9B32542773DF}"/>
              </a:ext>
            </a:extLst>
          </p:cNvPr>
          <p:cNvSpPr/>
          <p:nvPr/>
        </p:nvSpPr>
        <p:spPr>
          <a:xfrm>
            <a:off x="4461354" y="3634113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E10F3B-73CD-A9BB-50E4-B7187DAA8D7F}"/>
              </a:ext>
            </a:extLst>
          </p:cNvPr>
          <p:cNvSpPr/>
          <p:nvPr/>
        </p:nvSpPr>
        <p:spPr>
          <a:xfrm>
            <a:off x="5709173" y="3634113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49E9BE-E96D-0F4C-DF8C-0B6B0DD6F0FF}"/>
              </a:ext>
            </a:extLst>
          </p:cNvPr>
          <p:cNvSpPr/>
          <p:nvPr/>
        </p:nvSpPr>
        <p:spPr>
          <a:xfrm>
            <a:off x="7010399" y="3656034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B4D4F9F-854F-34D5-3BC0-9F9E853F871C}"/>
              </a:ext>
            </a:extLst>
          </p:cNvPr>
          <p:cNvSpPr/>
          <p:nvPr/>
        </p:nvSpPr>
        <p:spPr>
          <a:xfrm>
            <a:off x="4071258" y="4808687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TB..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FD869B-79EB-2413-34AB-CF623F0D8983}"/>
              </a:ext>
            </a:extLst>
          </p:cNvPr>
          <p:cNvSpPr/>
          <p:nvPr/>
        </p:nvSpPr>
        <p:spPr>
          <a:xfrm>
            <a:off x="5250792" y="4808687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TB..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D636307-4178-EE92-BD2A-B06210E7154F}"/>
              </a:ext>
            </a:extLst>
          </p:cNvPr>
          <p:cNvSpPr/>
          <p:nvPr/>
        </p:nvSpPr>
        <p:spPr>
          <a:xfrm>
            <a:off x="6430326" y="4808687"/>
            <a:ext cx="701457" cy="6513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TB..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AF39A1-70AF-FDB6-8559-556BEB83C8D9}"/>
              </a:ext>
            </a:extLst>
          </p:cNvPr>
          <p:cNvSpPr txBox="1"/>
          <p:nvPr/>
        </p:nvSpPr>
        <p:spPr>
          <a:xfrm>
            <a:off x="3876003" y="1216630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Machines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C6787B-4457-6B56-023C-BC173FFE087F}"/>
              </a:ext>
            </a:extLst>
          </p:cNvPr>
          <p:cNvSpPr txBox="1"/>
          <p:nvPr/>
        </p:nvSpPr>
        <p:spPr>
          <a:xfrm>
            <a:off x="4938019" y="1216630"/>
            <a:ext cx="1190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2"/>
                </a:solidFill>
              </a:rPr>
              <a:t>Prod_dept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DA7739-B9E6-B559-822A-E1E177ADCD7F}"/>
              </a:ext>
            </a:extLst>
          </p:cNvPr>
          <p:cNvSpPr txBox="1"/>
          <p:nvPr/>
        </p:nvSpPr>
        <p:spPr>
          <a:xfrm>
            <a:off x="6103213" y="1233253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2"/>
                </a:solidFill>
              </a:rPr>
              <a:t>Pur_dept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4F3C69-E333-9B60-9345-057C02E840DF}"/>
              </a:ext>
            </a:extLst>
          </p:cNvPr>
          <p:cNvSpPr txBox="1"/>
          <p:nvPr/>
        </p:nvSpPr>
        <p:spPr>
          <a:xfrm>
            <a:off x="3117944" y="2274296"/>
            <a:ext cx="1227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2"/>
                </a:solidFill>
              </a:rPr>
              <a:t>Sales_dept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4317BE-C31B-BE1C-CA76-A0965FED03F3}"/>
              </a:ext>
            </a:extLst>
          </p:cNvPr>
          <p:cNvSpPr txBox="1"/>
          <p:nvPr/>
        </p:nvSpPr>
        <p:spPr>
          <a:xfrm>
            <a:off x="4216761" y="2293102"/>
            <a:ext cx="1438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2"/>
                </a:solidFill>
              </a:rPr>
              <a:t>Quality_dept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50" name="Rectangle 4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B55A1F4-E041-CF99-92BC-5813F9C6CDA8}"/>
              </a:ext>
            </a:extLst>
          </p:cNvPr>
          <p:cNvSpPr/>
          <p:nvPr/>
        </p:nvSpPr>
        <p:spPr>
          <a:xfrm>
            <a:off x="372460" y="3858017"/>
            <a:ext cx="1648983" cy="16020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TB1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968A8CF-1682-8DF5-DCC4-82804B03E01D}"/>
              </a:ext>
            </a:extLst>
          </p:cNvPr>
          <p:cNvCxnSpPr>
            <a:cxnSpLocks/>
            <a:stCxn id="2" idx="2"/>
            <a:endCxn id="50" idx="3"/>
          </p:cNvCxnSpPr>
          <p:nvPr/>
        </p:nvCxnSpPr>
        <p:spPr>
          <a:xfrm flipH="1">
            <a:off x="2021443" y="2192055"/>
            <a:ext cx="2312563" cy="24669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21B8008-0C6E-5BC3-E614-CBCC57C33DA2}"/>
              </a:ext>
            </a:extLst>
          </p:cNvPr>
          <p:cNvCxnSpPr>
            <a:cxnSpLocks/>
            <a:stCxn id="2" idx="1"/>
            <a:endCxn id="50" idx="0"/>
          </p:cNvCxnSpPr>
          <p:nvPr/>
        </p:nvCxnSpPr>
        <p:spPr>
          <a:xfrm flipH="1">
            <a:off x="1196952" y="1866378"/>
            <a:ext cx="2786325" cy="19916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600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40BA0-137C-696D-D87B-0C8D69F5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F627CD98-BF41-CE4A-C534-2F7D320C11EF}"/>
              </a:ext>
            </a:extLst>
          </p:cNvPr>
          <p:cNvSpPr txBox="1"/>
          <p:nvPr/>
        </p:nvSpPr>
        <p:spPr>
          <a:xfrm>
            <a:off x="5341120" y="87317"/>
            <a:ext cx="1222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TABLES</a:t>
            </a:r>
          </a:p>
        </p:txBody>
      </p:sp>
      <p:sp>
        <p:nvSpPr>
          <p:cNvPr id="4" name="Rectang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83B0E88-B159-FCAF-80D6-C8745B31204A}"/>
              </a:ext>
            </a:extLst>
          </p:cNvPr>
          <p:cNvSpPr/>
          <p:nvPr/>
        </p:nvSpPr>
        <p:spPr>
          <a:xfrm>
            <a:off x="1164921" y="1440493"/>
            <a:ext cx="3256767" cy="285593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TB1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3F370E-C36A-99F2-B4A2-8F18677D3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925010"/>
              </p:ext>
            </p:extLst>
          </p:nvPr>
        </p:nvGraphicFramePr>
        <p:xfrm>
          <a:off x="5628623" y="1372950"/>
          <a:ext cx="6235576" cy="741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12867">
                  <a:extLst>
                    <a:ext uri="{9D8B030D-6E8A-4147-A177-3AD203B41FA5}">
                      <a16:colId xmlns:a16="http://schemas.microsoft.com/office/drawing/2014/main" val="3119921829"/>
                    </a:ext>
                  </a:extLst>
                </a:gridCol>
                <a:gridCol w="1691013">
                  <a:extLst>
                    <a:ext uri="{9D8B030D-6E8A-4147-A177-3AD203B41FA5}">
                      <a16:colId xmlns:a16="http://schemas.microsoft.com/office/drawing/2014/main" val="3447815130"/>
                    </a:ext>
                  </a:extLst>
                </a:gridCol>
                <a:gridCol w="1553625">
                  <a:extLst>
                    <a:ext uri="{9D8B030D-6E8A-4147-A177-3AD203B41FA5}">
                      <a16:colId xmlns:a16="http://schemas.microsoft.com/office/drawing/2014/main" val="2610415071"/>
                    </a:ext>
                  </a:extLst>
                </a:gridCol>
                <a:gridCol w="1478071">
                  <a:extLst>
                    <a:ext uri="{9D8B030D-6E8A-4147-A177-3AD203B41FA5}">
                      <a16:colId xmlns:a16="http://schemas.microsoft.com/office/drawing/2014/main" val="2059020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Machine_ID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Machine_name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81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Var_char</a:t>
                      </a:r>
                      <a:r>
                        <a:rPr lang="en-US" dirty="0"/>
                        <a:t>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Var_char</a:t>
                      </a:r>
                      <a:r>
                        <a:rPr lang="en-US" dirty="0"/>
                        <a:t>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Var_char</a:t>
                      </a:r>
                      <a:r>
                        <a:rPr lang="en-US" dirty="0"/>
                        <a:t>(20)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9823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6094420-6FB3-9E5B-B88D-250911512813}"/>
              </a:ext>
            </a:extLst>
          </p:cNvPr>
          <p:cNvSpPr txBox="1"/>
          <p:nvPr/>
        </p:nvSpPr>
        <p:spPr>
          <a:xfrm>
            <a:off x="1742151" y="855718"/>
            <a:ext cx="2000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MACHINES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751848B-E0A3-C945-2557-12E337E73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450722"/>
              </p:ext>
            </p:extLst>
          </p:nvPr>
        </p:nvGraphicFramePr>
        <p:xfrm>
          <a:off x="5192336" y="3429000"/>
          <a:ext cx="6569604" cy="185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12867">
                  <a:extLst>
                    <a:ext uri="{9D8B030D-6E8A-4147-A177-3AD203B41FA5}">
                      <a16:colId xmlns:a16="http://schemas.microsoft.com/office/drawing/2014/main" val="3119921829"/>
                    </a:ext>
                  </a:extLst>
                </a:gridCol>
                <a:gridCol w="2000386">
                  <a:extLst>
                    <a:ext uri="{9D8B030D-6E8A-4147-A177-3AD203B41FA5}">
                      <a16:colId xmlns:a16="http://schemas.microsoft.com/office/drawing/2014/main" val="3447815130"/>
                    </a:ext>
                  </a:extLst>
                </a:gridCol>
                <a:gridCol w="1678488">
                  <a:extLst>
                    <a:ext uri="{9D8B030D-6E8A-4147-A177-3AD203B41FA5}">
                      <a16:colId xmlns:a16="http://schemas.microsoft.com/office/drawing/2014/main" val="2610415071"/>
                    </a:ext>
                  </a:extLst>
                </a:gridCol>
                <a:gridCol w="1377863">
                  <a:extLst>
                    <a:ext uri="{9D8B030D-6E8A-4147-A177-3AD203B41FA5}">
                      <a16:colId xmlns:a16="http://schemas.microsoft.com/office/drawing/2014/main" val="2059020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Machine_ID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Machine_name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81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Drilling_machine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Mahine_tools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98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Milling_machine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Private_mech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818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Shaping_machine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Shaping_trend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South_africa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89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Testing_machine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Pioneer_test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893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C3054E7-E0D3-ACBB-4E99-48B720EB628F}"/>
              </a:ext>
            </a:extLst>
          </p:cNvPr>
          <p:cNvSpPr txBox="1"/>
          <p:nvPr/>
        </p:nvSpPr>
        <p:spPr>
          <a:xfrm>
            <a:off x="6563378" y="904034"/>
            <a:ext cx="2198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Structure of the table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8D91B5-52B4-E4BE-74DF-1CE7C6CD4C9E}"/>
              </a:ext>
            </a:extLst>
          </p:cNvPr>
          <p:cNvSpPr txBox="1"/>
          <p:nvPr/>
        </p:nvSpPr>
        <p:spPr>
          <a:xfrm>
            <a:off x="6964210" y="3059668"/>
            <a:ext cx="2076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Content of the table</a:t>
            </a:r>
          </a:p>
        </p:txBody>
      </p:sp>
      <p:sp>
        <p:nvSpPr>
          <p:cNvPr id="15" name="TextBox 1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ED38169-238E-E7B9-FBD0-CA651E8957FB}"/>
              </a:ext>
            </a:extLst>
          </p:cNvPr>
          <p:cNvSpPr txBox="1"/>
          <p:nvPr/>
        </p:nvSpPr>
        <p:spPr>
          <a:xfrm>
            <a:off x="4536786" y="1745298"/>
            <a:ext cx="1091837" cy="36933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type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C712E-226E-1272-6FF5-9CDDFB42CFBC}"/>
              </a:ext>
            </a:extLst>
          </p:cNvPr>
          <p:cNvSpPr txBox="1"/>
          <p:nvPr/>
        </p:nvSpPr>
        <p:spPr>
          <a:xfrm>
            <a:off x="4536785" y="1440493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Col_name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0C5EECE-7FE5-E929-57CB-3CF289526A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651"/>
          <a:stretch>
            <a:fillRect/>
          </a:stretch>
        </p:blipFill>
        <p:spPr>
          <a:xfrm>
            <a:off x="430060" y="4601232"/>
            <a:ext cx="4502302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77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D164F-F8B8-1CF6-FF95-6618E209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2EFAC-AAEB-9091-AB1D-B80164FD4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373"/>
            <a:ext cx="8243170" cy="265869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Numeric: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Tiny Int </a:t>
            </a:r>
            <a:r>
              <a:rPr lang="en-US" sz="2000" dirty="0">
                <a:sym typeface="Wingdings" pitchFamily="2" charset="2"/>
              </a:rPr>
              <a:t> +</a:t>
            </a:r>
            <a:r>
              <a:rPr lang="en-US" sz="2000" dirty="0" err="1">
                <a:sym typeface="Wingdings" pitchFamily="2" charset="2"/>
              </a:rPr>
              <a:t>ve</a:t>
            </a:r>
            <a:r>
              <a:rPr lang="en-US" sz="2000" dirty="0">
                <a:sym typeface="Wingdings" pitchFamily="2" charset="2"/>
              </a:rPr>
              <a:t> ex: age</a:t>
            </a: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Int </a:t>
            </a:r>
            <a:r>
              <a:rPr lang="en-US" sz="2000" dirty="0">
                <a:sym typeface="Wingdings" pitchFamily="2" charset="2"/>
              </a:rPr>
              <a:t> -</a:t>
            </a:r>
            <a:r>
              <a:rPr lang="en-US" sz="2000" dirty="0" err="1">
                <a:sym typeface="Wingdings" pitchFamily="2" charset="2"/>
              </a:rPr>
              <a:t>ve</a:t>
            </a:r>
            <a:r>
              <a:rPr lang="en-US" sz="2000" dirty="0">
                <a:sym typeface="Wingdings" pitchFamily="2" charset="2"/>
              </a:rPr>
              <a:t> to +</a:t>
            </a:r>
            <a:r>
              <a:rPr lang="en-US" sz="2000" dirty="0" err="1">
                <a:sym typeface="Wingdings" pitchFamily="2" charset="2"/>
              </a:rPr>
              <a:t>ve</a:t>
            </a: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Big Int </a:t>
            </a:r>
            <a:r>
              <a:rPr lang="en-US" sz="2000" dirty="0">
                <a:sym typeface="Wingdings" pitchFamily="2" charset="2"/>
              </a:rPr>
              <a:t> -</a:t>
            </a:r>
            <a:r>
              <a:rPr lang="en-US" sz="2000" dirty="0" err="1">
                <a:sym typeface="Wingdings" pitchFamily="2" charset="2"/>
              </a:rPr>
              <a:t>ve</a:t>
            </a:r>
            <a:r>
              <a:rPr lang="en-US" sz="2000" dirty="0">
                <a:sym typeface="Wingdings" pitchFamily="2" charset="2"/>
              </a:rPr>
              <a:t> to +</a:t>
            </a:r>
            <a:r>
              <a:rPr lang="en-US" sz="2000" dirty="0" err="1">
                <a:sym typeface="Wingdings" pitchFamily="2" charset="2"/>
              </a:rPr>
              <a:t>ve</a:t>
            </a: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Decimal </a:t>
            </a:r>
            <a:r>
              <a:rPr lang="en-US" sz="2000" dirty="0">
                <a:sym typeface="Wingdings" pitchFamily="2" charset="2"/>
              </a:rPr>
              <a:t> -</a:t>
            </a:r>
            <a:r>
              <a:rPr lang="en-US" sz="2000" dirty="0" err="1">
                <a:sym typeface="Wingdings" pitchFamily="2" charset="2"/>
              </a:rPr>
              <a:t>ve</a:t>
            </a:r>
            <a:r>
              <a:rPr lang="en-US" sz="2000" dirty="0">
                <a:sym typeface="Wingdings" pitchFamily="2" charset="2"/>
              </a:rPr>
              <a:t> to +</a:t>
            </a:r>
            <a:r>
              <a:rPr lang="en-US" sz="2000" dirty="0" err="1">
                <a:sym typeface="Wingdings" pitchFamily="2" charset="2"/>
              </a:rPr>
              <a:t>ve</a:t>
            </a:r>
            <a:r>
              <a:rPr lang="en-US" sz="2000" dirty="0">
                <a:sym typeface="Wingdings" pitchFamily="2" charset="2"/>
              </a:rPr>
              <a:t> (ex: salary :: Exact value)</a:t>
            </a: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Float </a:t>
            </a:r>
            <a:r>
              <a:rPr lang="en-US" sz="2000" dirty="0">
                <a:sym typeface="Wingdings" pitchFamily="2" charset="2"/>
              </a:rPr>
              <a:t> -</a:t>
            </a:r>
            <a:r>
              <a:rPr lang="en-US" sz="2000" dirty="0" err="1">
                <a:sym typeface="Wingdings" pitchFamily="2" charset="2"/>
              </a:rPr>
              <a:t>ve</a:t>
            </a:r>
            <a:r>
              <a:rPr lang="en-US" sz="2000" dirty="0">
                <a:sym typeface="Wingdings" pitchFamily="2" charset="2"/>
              </a:rPr>
              <a:t> to +</a:t>
            </a:r>
            <a:r>
              <a:rPr lang="en-US" sz="2000" dirty="0" err="1">
                <a:sym typeface="Wingdings" pitchFamily="2" charset="2"/>
              </a:rPr>
              <a:t>ve</a:t>
            </a:r>
            <a:r>
              <a:rPr lang="en-US" sz="2000" dirty="0">
                <a:sym typeface="Wingdings" pitchFamily="2" charset="2"/>
              </a:rPr>
              <a:t> ( ex: Temperature, sensor readings:: approximate values)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942F44-AA11-A0E0-BFF6-0ECE1066592E}"/>
              </a:ext>
            </a:extLst>
          </p:cNvPr>
          <p:cNvSpPr txBox="1">
            <a:spLocks/>
          </p:cNvSpPr>
          <p:nvPr/>
        </p:nvSpPr>
        <p:spPr>
          <a:xfrm>
            <a:off x="838200" y="4348714"/>
            <a:ext cx="8243170" cy="21441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String: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Char </a:t>
            </a:r>
            <a:r>
              <a:rPr lang="en-US" sz="2000" dirty="0">
                <a:sym typeface="Wingdings" pitchFamily="2" charset="2"/>
              </a:rPr>
              <a:t> Char(6) (ex: Hero_ _ )</a:t>
            </a:r>
            <a:endParaRPr lang="en-US" sz="2000" dirty="0"/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Varchar </a:t>
            </a:r>
            <a:r>
              <a:rPr lang="en-US" sz="2000" dirty="0">
                <a:sym typeface="Wingdings" pitchFamily="2" charset="2"/>
              </a:rPr>
              <a:t> Varchar(20) (ex: Hero)</a:t>
            </a:r>
            <a:endParaRPr lang="en-US" sz="2000" dirty="0"/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BLOB </a:t>
            </a:r>
            <a:r>
              <a:rPr lang="en-US" sz="2000" dirty="0">
                <a:sym typeface="Wingdings" pitchFamily="2" charset="2"/>
              </a:rPr>
              <a:t> useful for images </a:t>
            </a:r>
            <a:endParaRPr lang="en-US" sz="2000" dirty="0"/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Text </a:t>
            </a:r>
            <a:r>
              <a:rPr lang="en-US" sz="2000" dirty="0">
                <a:sym typeface="Wingdings" pitchFamily="2" charset="2"/>
              </a:rPr>
              <a:t> plane text like statements </a:t>
            </a:r>
            <a:endParaRPr lang="en-US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D87EF5-D097-840F-C2EB-00B030AC0B2C}"/>
              </a:ext>
            </a:extLst>
          </p:cNvPr>
          <p:cNvSpPr txBox="1">
            <a:spLocks/>
          </p:cNvSpPr>
          <p:nvPr/>
        </p:nvSpPr>
        <p:spPr>
          <a:xfrm>
            <a:off x="9173228" y="1322373"/>
            <a:ext cx="2876811" cy="26586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Date&amp; Time: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/>
              <a:t>DATE </a:t>
            </a:r>
            <a:r>
              <a:rPr lang="en-US" sz="2000" dirty="0">
                <a:sym typeface="Wingdings" pitchFamily="2" charset="2"/>
              </a:rPr>
              <a:t> YYYY-MM-DD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>
                <a:sym typeface="Wingdings" pitchFamily="2" charset="2"/>
              </a:rPr>
              <a:t>TIME HH:MM:SS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>
                <a:sym typeface="Wingdings" pitchFamily="2" charset="2"/>
              </a:rPr>
              <a:t>DATE&amp;TIME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YYYY-MM-DD HH:MM:SS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87255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277</Words>
  <Application>Microsoft Macintosh PowerPoint</Application>
  <PresentationFormat>Widescreen</PresentationFormat>
  <Paragraphs>93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Data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REDDY TAMATAM</dc:creator>
  <cp:lastModifiedBy>LOKESH REDDY TAMATAM</cp:lastModifiedBy>
  <cp:revision>9</cp:revision>
  <dcterms:created xsi:type="dcterms:W3CDTF">2026-05-17T03:11:58Z</dcterms:created>
  <dcterms:modified xsi:type="dcterms:W3CDTF">2026-05-17T04:12:34Z</dcterms:modified>
</cp:coreProperties>
</file>